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76072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097280"/>
            <a:ext cx="36576" cy="4663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4600" b="1">
                <a:solidFill>
                  <a:srgbClr val="0F172A"/>
                </a:solidFill>
                <a:latin typeface="Segoe UI Semibold"/>
              </a:defRPr>
            </a:pPr>
            <a:r>
              <a:t>AQUAMONITOR</a:t>
            </a:r>
          </a:p>
          <a:p>
            <a:pPr>
              <a:spcAft>
                <a:spcPts val="1400"/>
              </a:spcAft>
              <a:defRPr sz="1800">
                <a:solidFill>
                  <a:srgbClr val="2563EB"/>
                </a:solidFill>
                <a:latin typeface="Segoe UI"/>
              </a:defRPr>
            </a:pPr>
            <a:r>
              <a:t>IoT-Based Smart Water Tank Automation System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Automated pump control, non-contact level sensing, and real-time dashboard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291840"/>
            <a:ext cx="50292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ST. XAVIER'S COLLEGE (AUTONOMOUS), AHMEDABAD</a:t>
            </a:r>
          </a:p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Department of Computer Science  •  Semester 3 IoT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389120"/>
            <a:ext cx="50292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Tanvi Patel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Roll: 25AI056</a:t>
            </a:r>
          </a:p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Part I: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57200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Barot Yaksh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Roll: 25AI002</a:t>
            </a:r>
          </a:p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Part II: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Nayan Barot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Roll: 25AI027</a:t>
            </a:r>
          </a:p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Part III: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280160"/>
            <a:ext cx="4572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i="1">
                <a:solidFill>
                  <a:srgbClr val="475569"/>
                </a:solidFill>
                <a:latin typeface="Segoe UI"/>
              </a:defRPr>
            </a:pPr>
            <a:br/>
            <a:r>
              <a:t>[ INSERT SYSTEM VISUAL HERE ]</a:t>
            </a:r>
            <a:br/>
            <a:br/>
            <a:r>
              <a:t>Click to add your circuit image, hardware mockup, or UI dashboard screenshot.</a:t>
            </a:r>
          </a:p>
        </p:txBody>
      </p:sp>
      <p:pic>
        <p:nvPicPr>
          <p:cNvPr id="13" name="Picture 12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PART I: INTRO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t>The Core Water Management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29184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EA5E9"/>
                </a:solidFill>
                <a:latin typeface="Segoe UI Semibold"/>
              </a:defRPr>
            </a:pPr>
            <a:r>
              <a:t>THE PROBLEM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Manual monitoring is highly inefficient, leading to resource waste and pump failures.</a:t>
            </a:r>
          </a:p>
          <a:p>
            <a:pPr>
              <a:spcAft>
                <a:spcPts val="400"/>
              </a:spcAft>
              <a:defRPr sz="1400">
                <a:solidFill>
                  <a:srgbClr val="0EA5E9"/>
                </a:solidFill>
                <a:latin typeface="Segoe UI Semibold"/>
              </a:defRPr>
            </a:pPr>
            <a:r>
              <a:t>Key Consequence: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Inductive load spikes and motor burned coil stators.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7040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01  |  CRITICAL OVERFLOW WATER WASTAGE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Manual tracking leads to regular tank overflows.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Results in hundreds of liters of clean water lost daily.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7040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02  |  PUMP DRY-RUN MOTOR DAMAGE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Pumps run without liquid when source reservoir is empty.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Causes motor overheating and stator coil burnout.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572000"/>
            <a:ext cx="7040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66344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03  |  HIGH ELECTRICITY UTILITY BILLS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Over-pumping consumes heavy electrical current.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Inflates monthly household and commercial utility bills.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PART I: INTRO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t>The AquaMonitor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040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01  |  AUTOMATED CONTROL LOOP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Microcontroller handles starting/stopping parameters automatically.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Starts pump at &lt;20% and stops it at &gt;90% water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7040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02  |  PRECISION ULTRASONIC RANGING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Emits ultrasonic sound waves to compute exact water depth.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Maintains high-precision measurements within ±1 cm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7040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03  |  REAL-TIME WEB TELEMETRY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Pushes metrics instantly to web dashboard using Socket.io.</a:t>
            </a:r>
          </a:p>
          <a:p>
            <a:pPr>
              <a:spcAft>
                <a:spcPts val="1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Sends mobile browser push notifications during warning states.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291840" cy="4663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2743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THE GOAL</a:t>
            </a:r>
          </a:p>
          <a:p>
            <a:pPr>
              <a:spcAft>
                <a:spcPts val="28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Shifting from human tracking to hardware automation creates a zero-waste water grid.</a:t>
            </a:r>
          </a:p>
          <a:p>
            <a:pPr>
              <a:spcAft>
                <a:spcPts val="400"/>
              </a:spcAft>
              <a:defRPr sz="1400">
                <a:solidFill>
                  <a:srgbClr val="2563EB"/>
                </a:solidFill>
                <a:latin typeface="Segoe UI Semibold"/>
              </a:defRPr>
            </a:pPr>
            <a:r>
              <a:t>Primary Benefits: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Prevents overflows, protects motors, and cuts energy bills.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PART I: INTRO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t>Hardware Stack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CORE MICROPROCESSOR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 Semibold"/>
              </a:defRPr>
            </a:pPr>
            <a:r>
              <a:t>NodeMCU ESP8266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Processes sensor signals, runs the control logic, and transmits wireless telemetry packet updates.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Low-power 32-bit CPU core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Onboard 802.11 b/g/n Wi-Fi module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GPIO pins connect sensors &amp; relay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ULTRASONIC SENSOR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 Semibold"/>
              </a:defRPr>
            </a:pPr>
            <a:r>
              <a:t>HC-SR04 Module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Measures echo return time-of-flight from container top to track exact water depth without liquid contact.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Non-contact ranging (2cm - 400cm)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High resolution (within ±3mm accuracy)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Humidity-safe design prevents 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ACTUATORS &amp; ALERT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 Semibold"/>
              </a:defRPr>
            </a:pPr>
            <a:r>
              <a:t>Relay, Buzzer &amp; Pump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Handles high-power switching and sounds physical boundary alarms during empty or overflow thresholds.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5V Relay for pump circuit control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Active buzzer sounds local alarms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✔  5V submersible pump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PART II: METHODOLOGY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t>Operational Flow &amp; Circuit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563EB"/>
                </a:solidFill>
                <a:latin typeface="Segoe UI Semibold"/>
              </a:defRPr>
            </a:pPr>
            <a:r>
              <a:t>SYSTEM FLOW</a:t>
            </a:r>
          </a:p>
          <a:p>
            <a:pPr>
              <a:spcAft>
                <a:spcPts val="1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01  |  PING RANGE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Sensor sends 10µs sound wave pulse to calculate time delay.</a:t>
            </a:r>
          </a:p>
          <a:p>
            <a:pPr>
              <a:spcAft>
                <a:spcPts val="1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02  |  CALCULATE LEVEL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ESP8266 converts travel delay to exact level percentage.</a:t>
            </a:r>
          </a:p>
          <a:p>
            <a:pPr>
              <a:spcAft>
                <a:spcPts val="1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03  |  AUTO CONTROL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Relay turns pump ON at &lt;20% and OFF at &gt;90% thresholds.</a:t>
            </a:r>
          </a:p>
          <a:p>
            <a:pPr>
              <a:spcAft>
                <a:spcPts val="1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04  |  STREAM DATA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NodeMCU posts HTTP JSON packets to backend API every 3s.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i="1">
                <a:solidFill>
                  <a:srgbClr val="475569"/>
                </a:solidFill>
                <a:latin typeface="Segoe UI"/>
              </a:defRPr>
            </a:pPr>
            <a:br/>
            <a:r>
              <a:t>[ INSERT CIRCUIT DIAGRAM / SCHEMATIC HERE ]</a:t>
            </a:r>
            <a:br/>
            <a:br/>
            <a:r>
              <a:t>Click to add your circuit wiring schematic or system block diagram.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0292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  <a:latin typeface="Segoe UI"/>
              </a:defRPr>
            </a:pPr>
            <a:r>
              <a:t>Figure: Microcontroller-sensor integration loop showing active ultrasonic echo ranging and automatic wireless telemetry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PART II: METHODOLOGY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t>Software Architecture &amp; Live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2563EB"/>
                </a:solidFill>
                <a:latin typeface="Segoe UI Semibold"/>
              </a:defRPr>
            </a:pPr>
            <a:r>
              <a:t>THE SOFTWARE STACK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✔  Node.js &amp; Express: </a:t>
            </a:r>
            <a:r>
              <a:rPr b="0" sz="1400">
                <a:solidFill>
                  <a:srgbClr val="475569"/>
                </a:solidFill>
              </a:rPr>
              <a:t>Host local REST API routes to receive sensor data and store history in memory.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✔  Socket.io (WebSockets): </a:t>
            </a:r>
            <a:r>
              <a:rPr b="0" sz="1400">
                <a:solidFill>
                  <a:srgbClr val="475569"/>
                </a:solidFill>
              </a:rPr>
              <a:t>Establish bidirectional channels for real-time dashboard updates without page reloads.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✔  Web Push API: </a:t>
            </a:r>
            <a:r>
              <a:rPr b="0" sz="1400">
                <a:solidFill>
                  <a:srgbClr val="475569"/>
                </a:solidFill>
              </a:rPr>
              <a:t>Triggers native mobile notifications when system registers empty/overflow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 b="1">
                <a:solidFill>
                  <a:srgbClr val="2563EB"/>
                </a:solidFill>
                <a:latin typeface="Segoe UI Semibold"/>
              </a:defRPr>
            </a:pPr>
            <a:r>
              <a:t>PORTAL FEATURES &amp; UTILITIES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✔  Dynamic Level Tracker: </a:t>
            </a:r>
            <a:r>
              <a:rPr b="0" sz="1400">
                <a:solidFill>
                  <a:srgbClr val="475569"/>
                </a:solidFill>
              </a:rPr>
              <a:t>Visual liquid progress bar changes color based on current depth percentage.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✔  Dual Operation Modes: </a:t>
            </a:r>
            <a:r>
              <a:rPr b="0" sz="1400">
                <a:solidFill>
                  <a:srgbClr val="475569"/>
                </a:solidFill>
              </a:rPr>
              <a:t>Switch between automated sensor loops and manual relay control toggles.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 Semibold"/>
              </a:defRPr>
            </a:pPr>
            <a:r>
              <a:t>✔  Configurable Parameters: </a:t>
            </a:r>
            <a:r>
              <a:rPr b="0" sz="1400">
                <a:solidFill>
                  <a:srgbClr val="475569"/>
                </a:solidFill>
              </a:rPr>
              <a:t>Input forms allow users to update start/stop threshold parameters on the fly.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PART III: RESULTS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t>Real-World Performance &amp; Utility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  <a:latin typeface="Segoe UI Semibold"/>
              </a:defRPr>
            </a:pPr>
            <a:r>
              <a:t>🏠  Home Automation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Domestic Settings</a:t>
            </a:r>
          </a:p>
          <a:p>
            <a:pPr>
              <a:spcAft>
                <a:spcPts val="2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Runs overhead and underground refills automatically, saving overhead tank waste, power, and physical inspection.</a:t>
            </a:r>
          </a:p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 Semibold"/>
              </a:defRPr>
            </a:pPr>
            <a:r>
              <a:t>CORE VALUE:</a:t>
            </a:r>
          </a:p>
          <a:p>
            <a:pPr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100% Manual Effort Eliminated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  <a:latin typeface="Segoe UI Semibold"/>
              </a:defRPr>
            </a:pPr>
            <a:r>
              <a:t>🌱  Crop Irrigation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Smart Agriculture</a:t>
            </a:r>
          </a:p>
          <a:p>
            <a:pPr>
              <a:spcAft>
                <a:spcPts val="2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Maintains optimal reservoir levels for drip lines or drinking pools in the background without crop soil stress.</a:t>
            </a:r>
          </a:p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 Semibold"/>
              </a:defRPr>
            </a:pPr>
            <a:r>
              <a:t>CORE VALUE:</a:t>
            </a:r>
          </a:p>
          <a:p>
            <a:pPr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Automated Moisture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82880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A5E9"/>
                </a:solidFill>
                <a:latin typeface="Segoe UI Semibold"/>
              </a:defRPr>
            </a:pPr>
            <a:r>
              <a:t>🏭  Facility Safety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Asset Protection</a:t>
            </a:r>
          </a:p>
          <a:p>
            <a:pPr>
              <a:spcAft>
                <a:spcPts val="2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Tracks liquid limits in clinics, blocks, and factories. Protects pump investments from dry-run coil burnout.</a:t>
            </a:r>
          </a:p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 Semibold"/>
              </a:defRPr>
            </a:pPr>
            <a:r>
              <a:t>CORE VALUE:</a:t>
            </a:r>
          </a:p>
          <a:p>
            <a:pPr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Prevents Dry-Run Pump Damage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PART III: RESULTS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t>Conclusion &amp; Project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✔  Reliable Ultrasonic Depth Tracking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Stable distance calculations within a precise ±1 cm window.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Humidity-proof, non-contact design avoids system 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✔  Automated Resource Optimization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Microcontroller logic completely eliminates manual oversight.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Ends overflow water waste and limits pump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✔  Extremely Low Prototype Budget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Full prototype built under ₹1,100 ($14 USD) hardware cost.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Uses budget-friendly NodeMCU board and HC-SR04.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✔  Highly Scalable Network Design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Clean local Node.js APIs map sensor data packets easily.</a:t>
            </a:r>
          </a:p>
          <a:p>
            <a:pPr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•  Ready to link multiple tank nodes across commercial complexes.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314" y="109728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6888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Segoe UI Semibold"/>
              </a:defRPr>
            </a:pPr>
            <a:r>
              <a:t>VIVA Q&amp;A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>
                <a:solidFill>
                  <a:srgbClr val="475569"/>
                </a:solidFill>
                <a:latin typeface="Segoe UI Semibold"/>
              </a:defRPr>
            </a:pPr>
            <a:r>
              <a:t>Presented by: Tanvi, Yaksh, and Nayan (St. Xavier's College)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389120"/>
            <a:ext cx="57881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Discussion Topics: Non-Contact Ultrasonic Precision  •  Local Loop Hardware Fail-safes</a:t>
            </a:r>
            <a:br/>
            <a:r>
              <a:t>API Database Telemetry  •  Relay Automation Thresholds  •  Dry-Run Safety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314" y="100584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7744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Segoe UI Semibold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>
                <a:solidFill>
                  <a:srgbClr val="2563EB"/>
                </a:solidFill>
                <a:latin typeface="Segoe UI"/>
              </a:defRPr>
            </a:pPr>
            <a:r>
              <a:t>Open for 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749039"/>
            <a:ext cx="76169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Segoe UI Semibold"/>
              </a:defRPr>
            </a:pPr>
            <a:r>
              <a:t>PROJECT REPRESENTATIVES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9768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Tanvi Patel</a:t>
            </a:r>
          </a:p>
          <a:p>
            <a:pPr algn="ctr"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Roll: 25AI056</a:t>
            </a:r>
          </a:p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Part I: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429768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Barot Yaksh</a:t>
            </a:r>
          </a:p>
          <a:p>
            <a:pPr algn="ctr"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Roll: 25AI002</a:t>
            </a:r>
          </a:p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Part II: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429768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Nayan Barot</a:t>
            </a:r>
          </a:p>
          <a:p>
            <a:pPr algn="ctr">
              <a:spcAft>
                <a:spcPts val="2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Roll: 25AI027</a:t>
            </a:r>
          </a:p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Part III: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