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5760720" cy="5394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0120" y="1097280"/>
            <a:ext cx="36576" cy="466344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097280"/>
            <a:ext cx="50292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4600" b="1">
                <a:solidFill>
                  <a:srgbClr val="0F172A"/>
                </a:solidFill>
                <a:latin typeface="Segoe UI Semibold"/>
              </a:defRPr>
            </a:pPr>
            <a:r>
              <a:t>AQUAMONITOR</a:t>
            </a:r>
          </a:p>
          <a:p>
            <a:pPr>
              <a:spcAft>
                <a:spcPts val="1400"/>
              </a:spcAft>
              <a:defRPr sz="1800">
                <a:solidFill>
                  <a:srgbClr val="2563EB"/>
                </a:solidFill>
                <a:latin typeface="Segoe UI"/>
              </a:defRPr>
            </a:pPr>
            <a:r>
              <a:t>IoT-Based Smart Water Tank Automation System</a:t>
            </a:r>
          </a:p>
          <a:p>
            <a:pPr>
              <a:defRPr sz="1400">
                <a:solidFill>
                  <a:srgbClr val="475569"/>
                </a:solidFill>
                <a:latin typeface="Segoe UI"/>
              </a:defRPr>
            </a:pPr>
            <a:r>
              <a:t>Automated pump control, non-contact level sensing, and real-time dashboard telemetry.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3291840"/>
            <a:ext cx="50292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347472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0F172A"/>
                </a:solidFill>
                <a:latin typeface="Segoe UI Semibold"/>
              </a:defRPr>
            </a:pPr>
            <a:r>
              <a:t>ST. XAVIER'S COLLEGE (AUTONOMOUS), AHMEDABAD</a:t>
            </a:r>
          </a:p>
          <a:p>
            <a:pPr>
              <a:defRPr sz="1400">
                <a:solidFill>
                  <a:srgbClr val="475569"/>
                </a:solidFill>
                <a:latin typeface="Segoe UI"/>
              </a:defRPr>
            </a:pPr>
            <a:r>
              <a:t>Department of Computer Science  •  Semester 3 IoT Project</a:t>
            </a:r>
          </a:p>
        </p:txBody>
      </p:sp>
      <p:sp>
        <p:nvSpPr>
          <p:cNvPr id="8" name="Rectangle 7"/>
          <p:cNvSpPr/>
          <p:nvPr/>
        </p:nvSpPr>
        <p:spPr>
          <a:xfrm>
            <a:off x="1188720" y="4389120"/>
            <a:ext cx="50292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4572000"/>
            <a:ext cx="15544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0F172A"/>
                </a:solidFill>
                <a:latin typeface="Segoe UI Semibold"/>
              </a:defRPr>
            </a:pPr>
            <a:r>
              <a:t>Tanvi Patel</a:t>
            </a:r>
          </a:p>
          <a:p>
            <a:pPr>
              <a:spcAft>
                <a:spcPts val="2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Roll: 25AI056</a:t>
            </a:r>
          </a:p>
          <a:p>
            <a:pPr>
              <a:defRPr sz="1400" b="1">
                <a:solidFill>
                  <a:srgbClr val="2563EB"/>
                </a:solidFill>
                <a:latin typeface="Segoe UI"/>
              </a:defRPr>
            </a:pPr>
            <a:r>
              <a:t>Part I: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4572000"/>
            <a:ext cx="15544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0F172A"/>
                </a:solidFill>
                <a:latin typeface="Segoe UI Semibold"/>
              </a:defRPr>
            </a:pPr>
            <a:r>
              <a:t>Barot Yaksh</a:t>
            </a:r>
          </a:p>
          <a:p>
            <a:pPr>
              <a:spcAft>
                <a:spcPts val="2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Roll: 25AI002</a:t>
            </a:r>
          </a:p>
          <a:p>
            <a:pPr>
              <a:defRPr sz="1400" b="1">
                <a:solidFill>
                  <a:srgbClr val="2563EB"/>
                </a:solidFill>
                <a:latin typeface="Segoe UI"/>
              </a:defRPr>
            </a:pPr>
            <a:r>
              <a:t>Part II: 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4572000"/>
            <a:ext cx="15544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0F172A"/>
                </a:solidFill>
                <a:latin typeface="Segoe UI Semibold"/>
              </a:defRPr>
            </a:pPr>
            <a:r>
              <a:t>Nayan Barot</a:t>
            </a:r>
          </a:p>
          <a:p>
            <a:pPr>
              <a:spcAft>
                <a:spcPts val="2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Roll: 25AI027</a:t>
            </a:r>
          </a:p>
          <a:p>
            <a:pPr>
              <a:defRPr sz="1400" b="1">
                <a:solidFill>
                  <a:srgbClr val="2563EB"/>
                </a:solidFill>
                <a:latin typeface="Segoe UI"/>
              </a:defRPr>
            </a:pPr>
            <a:r>
              <a:t>Part III: Outcomes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0" y="1280160"/>
            <a:ext cx="4572000" cy="3291840"/>
          </a:xfrm>
          <a:prstGeom prst="roundRect">
            <a:avLst/>
          </a:prstGeom>
          <a:blipFill>
            <a:blip r:embed="rId3"/>
            <a:stretch>
              <a:fillRect/>
            </a:stretch>
          </a:blip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/>
        </p:txBody>
      </p:sp>
      <p:pic>
        <p:nvPicPr>
          <p:cNvPr id="13" name="Picture 12" descr="colleg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365760"/>
            <a:ext cx="82296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>
                <a:solidFill>
                  <a:srgbClr val="0EA5E9"/>
                </a:solidFill>
                <a:latin typeface="Segoe UI Semibold"/>
              </a:defRPr>
            </a:pPr>
            <a:r>
              <a:t>PART I: INTRO &amp;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 Semibold"/>
              </a:defRPr>
            </a:pPr>
            <a:r>
              <a:t>The Core Water Management Challenge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5912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3291840" cy="46634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2743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600" b="1">
                <a:solidFill>
                  <a:srgbClr val="0EA5E9"/>
                </a:solidFill>
                <a:latin typeface="Segoe UI Semibold"/>
              </a:defRPr>
            </a:pPr>
            <a:r>
              <a:t>THE PROBLEM</a:t>
            </a:r>
          </a:p>
          <a:p>
            <a:pPr>
              <a:spcAft>
                <a:spcPts val="2800"/>
              </a:spcAft>
              <a:defRPr sz="1400">
                <a:solidFill>
                  <a:srgbClr val="CBD5E1"/>
                </a:solidFill>
                <a:latin typeface="Segoe UI"/>
              </a:defRPr>
            </a:pPr>
            <a:r>
              <a:t>Manual monitoring is highly inefficient, leading to resource waste and pump failures.</a:t>
            </a:r>
          </a:p>
          <a:p>
            <a:pPr>
              <a:spcAft>
                <a:spcPts val="400"/>
              </a:spcAft>
              <a:defRPr sz="1400">
                <a:solidFill>
                  <a:srgbClr val="0EA5E9"/>
                </a:solidFill>
                <a:latin typeface="Segoe UI Semibold"/>
              </a:defRPr>
            </a:pPr>
            <a:r>
              <a:t>Key Consequence:</a:t>
            </a:r>
          </a:p>
          <a:p>
            <a:pPr>
              <a:defRPr sz="1400">
                <a:solidFill>
                  <a:srgbClr val="FFFFFF"/>
                </a:solidFill>
                <a:latin typeface="Segoe UI"/>
              </a:defRPr>
            </a:pPr>
            <a:r>
              <a:t>Inductive load spikes and motor burned coil stators.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704088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554480"/>
            <a:ext cx="6675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600" b="1">
                <a:solidFill>
                  <a:srgbClr val="0F172A"/>
                </a:solidFill>
                <a:latin typeface="Segoe UI Semibold"/>
              </a:defRPr>
            </a:pPr>
            <a:r>
              <a:t>01  |  CRITICAL OVERFLOW WATER WASTAGE</a:t>
            </a:r>
          </a:p>
          <a:p>
            <a:pPr>
              <a:spcAft>
                <a:spcPts val="1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•  Manual tracking leads to regular tank overflows.</a:t>
            </a:r>
          </a:p>
          <a:p>
            <a:pPr>
              <a:spcAft>
                <a:spcPts val="1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•  Results in hundreds of liters of clean water lost daily.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3017520"/>
            <a:ext cx="704088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3108960"/>
            <a:ext cx="6675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600" b="1">
                <a:solidFill>
                  <a:srgbClr val="0F172A"/>
                </a:solidFill>
                <a:latin typeface="Segoe UI Semibold"/>
              </a:defRPr>
            </a:pPr>
            <a:r>
              <a:t>02  |  PUMP DRY-RUN MOTOR DAMAGE</a:t>
            </a:r>
          </a:p>
          <a:p>
            <a:pPr>
              <a:spcAft>
                <a:spcPts val="1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•  Pumps run without liquid when source reservoir is empty.</a:t>
            </a:r>
          </a:p>
          <a:p>
            <a:pPr>
              <a:spcAft>
                <a:spcPts val="1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•  Causes motor overheating and stator coil burnout.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4572000"/>
            <a:ext cx="704088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4663440"/>
            <a:ext cx="6675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600" b="1">
                <a:solidFill>
                  <a:srgbClr val="0F172A"/>
                </a:solidFill>
                <a:latin typeface="Segoe UI Semibold"/>
              </a:defRPr>
            </a:pPr>
            <a:r>
              <a:t>03  |  HIGH ELECTRICITY UTILITY BILLS</a:t>
            </a:r>
          </a:p>
          <a:p>
            <a:pPr>
              <a:spcAft>
                <a:spcPts val="1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•  Over-pumping consumes heavy electrical current.</a:t>
            </a:r>
          </a:p>
          <a:p>
            <a:pPr>
              <a:spcAft>
                <a:spcPts val="1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•  Inflates monthly household and commercial utility bills.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>
                <a:solidFill>
                  <a:srgbClr val="0EA5E9"/>
                </a:solidFill>
                <a:latin typeface="Segoe UI Semibold"/>
              </a:defRPr>
            </a:pPr>
            <a:r>
              <a:t>PART I: INTRO &amp;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 Semibold"/>
              </a:defRPr>
            </a:pPr>
            <a:r>
              <a:t>The AquaMonitor Solution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5912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704088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675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600" b="1">
                <a:solidFill>
                  <a:srgbClr val="2563EB"/>
                </a:solidFill>
                <a:latin typeface="Segoe UI Semibold"/>
              </a:defRPr>
            </a:pPr>
            <a:r>
              <a:t>01  |  AUTOMATED CONTROL LOOP</a:t>
            </a:r>
          </a:p>
          <a:p>
            <a:pPr>
              <a:spcAft>
                <a:spcPts val="1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•  Microcontroller handles starting/stopping parameters automatically.</a:t>
            </a:r>
          </a:p>
          <a:p>
            <a:pPr>
              <a:spcAft>
                <a:spcPts val="1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•  Starts pump at &lt;20% and stops it at &gt;90% water level.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17520"/>
            <a:ext cx="704088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108960"/>
            <a:ext cx="6675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600" b="1">
                <a:solidFill>
                  <a:srgbClr val="2563EB"/>
                </a:solidFill>
                <a:latin typeface="Segoe UI Semibold"/>
              </a:defRPr>
            </a:pPr>
            <a:r>
              <a:t>02  |  PRECISION ULTRASONIC RANGING</a:t>
            </a:r>
          </a:p>
          <a:p>
            <a:pPr>
              <a:spcAft>
                <a:spcPts val="1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•  Emits ultrasonic sound waves to compute exact water depth.</a:t>
            </a:r>
          </a:p>
          <a:p>
            <a:pPr>
              <a:spcAft>
                <a:spcPts val="1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•  Maintains high-precision measurements within ±1 cm accuracy.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72000"/>
            <a:ext cx="704088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663440"/>
            <a:ext cx="6675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600" b="1">
                <a:solidFill>
                  <a:srgbClr val="2563EB"/>
                </a:solidFill>
                <a:latin typeface="Segoe UI Semibold"/>
              </a:defRPr>
            </a:pPr>
            <a:r>
              <a:t>03  |  REAL-TIME WEB TELEMETRY</a:t>
            </a:r>
          </a:p>
          <a:p>
            <a:pPr>
              <a:spcAft>
                <a:spcPts val="1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•  Pushes metrics instantly to web dashboard using Socket.io.</a:t>
            </a:r>
          </a:p>
          <a:p>
            <a:pPr>
              <a:spcAft>
                <a:spcPts val="1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•  Sends mobile browser push notifications during warning states.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1463040"/>
            <a:ext cx="3291840" cy="4663440"/>
          </a:xfrm>
          <a:prstGeom prst="rect">
            <a:avLst/>
          </a:prstGeom>
          <a:solidFill>
            <a:srgbClr val="F0FD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1828800"/>
            <a:ext cx="2743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600" b="1">
                <a:solidFill>
                  <a:srgbClr val="0F172A"/>
                </a:solidFill>
                <a:latin typeface="Segoe UI Semibold"/>
              </a:defRPr>
            </a:pPr>
            <a:r>
              <a:t>THE GOAL</a:t>
            </a:r>
          </a:p>
          <a:p>
            <a:pPr>
              <a:spcAft>
                <a:spcPts val="28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Shifting from human tracking to hardware automation creates a zero-waste water grid.</a:t>
            </a:r>
          </a:p>
          <a:p>
            <a:pPr>
              <a:spcAft>
                <a:spcPts val="400"/>
              </a:spcAft>
              <a:defRPr sz="1400">
                <a:solidFill>
                  <a:srgbClr val="2563EB"/>
                </a:solidFill>
                <a:latin typeface="Segoe UI Semibold"/>
              </a:defRPr>
            </a:pPr>
            <a:r>
              <a:t>Primary Benefits:</a:t>
            </a:r>
          </a:p>
          <a:p>
            <a:pPr>
              <a:defRPr sz="1400">
                <a:solidFill>
                  <a:srgbClr val="0F172A"/>
                </a:solidFill>
                <a:latin typeface="Segoe UI"/>
              </a:defRPr>
            </a:pPr>
            <a:r>
              <a:t>Prevents overflows, protects motors, and cuts energy bills.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>
                <a:solidFill>
                  <a:srgbClr val="0EA5E9"/>
                </a:solidFill>
                <a:latin typeface="Segoe UI Semibold"/>
              </a:defRPr>
            </a:pPr>
            <a:r>
              <a:t>PART I: INTRO &amp;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 Semibold"/>
              </a:defRPr>
            </a:pPr>
            <a:r>
              <a:t>Hardware Stack &amp;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5912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28416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305409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EA5E9"/>
                </a:solidFill>
                <a:latin typeface="Segoe UI Semibold"/>
              </a:defRPr>
            </a:pPr>
            <a:r>
              <a:t>CORE MICROPROCESSOR</a:t>
            </a:r>
          </a:p>
          <a:p>
            <a:pPr>
              <a:spcAft>
                <a:spcPts val="1200"/>
              </a:spcAft>
              <a:defRPr sz="1800" b="1">
                <a:solidFill>
                  <a:srgbClr val="0F172A"/>
                </a:solidFill>
                <a:latin typeface="Segoe UI Semibold"/>
              </a:defRPr>
            </a:pPr>
            <a:r>
              <a:t>NodeMCU ESP8266</a:t>
            </a:r>
          </a:p>
          <a:p>
            <a:pPr>
              <a:spcAft>
                <a:spcPts val="16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Processes sensor signals, runs the control logic, and transmits wireless telemetry packet updates.</a:t>
            </a:r>
          </a:p>
          <a:p>
            <a:pPr>
              <a:spcAft>
                <a:spcPts val="400"/>
              </a:spcAft>
              <a:defRPr sz="1400">
                <a:solidFill>
                  <a:srgbClr val="0F172A"/>
                </a:solidFill>
                <a:latin typeface="Segoe UI"/>
              </a:defRPr>
            </a:pPr>
            <a:r>
              <a:t>✔  Low-power 32-bit CPU core</a:t>
            </a:r>
          </a:p>
          <a:p>
            <a:pPr>
              <a:spcAft>
                <a:spcPts val="400"/>
              </a:spcAft>
              <a:defRPr sz="1400">
                <a:solidFill>
                  <a:srgbClr val="0F172A"/>
                </a:solidFill>
                <a:latin typeface="Segoe UI"/>
              </a:defRPr>
            </a:pPr>
            <a:r>
              <a:t>✔  Onboard 802.11 b/g/n Wi-Fi module</a:t>
            </a:r>
          </a:p>
          <a:p>
            <a:pPr>
              <a:spcAft>
                <a:spcPts val="400"/>
              </a:spcAft>
              <a:defRPr sz="1400">
                <a:solidFill>
                  <a:srgbClr val="0F172A"/>
                </a:solidFill>
                <a:latin typeface="Segoe UI"/>
              </a:defRPr>
            </a:pPr>
            <a:r>
              <a:t>✔  GPIO pins connect sensors &amp; relay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1645920"/>
            <a:ext cx="3328416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62856" y="1828800"/>
            <a:ext cx="305409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EA5E9"/>
                </a:solidFill>
                <a:latin typeface="Segoe UI Semibold"/>
              </a:defRPr>
            </a:pPr>
            <a:r>
              <a:t>ULTRASONIC SENSOR</a:t>
            </a:r>
          </a:p>
          <a:p>
            <a:pPr>
              <a:spcAft>
                <a:spcPts val="1200"/>
              </a:spcAft>
              <a:defRPr sz="1800" b="1">
                <a:solidFill>
                  <a:srgbClr val="0F172A"/>
                </a:solidFill>
                <a:latin typeface="Segoe UI Semibold"/>
              </a:defRPr>
            </a:pPr>
            <a:r>
              <a:t>HC-SR04 Module</a:t>
            </a:r>
          </a:p>
          <a:p>
            <a:pPr>
              <a:spcAft>
                <a:spcPts val="16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Measures echo return time-of-flight from container top to track exact water depth without liquid contact.</a:t>
            </a:r>
          </a:p>
          <a:p>
            <a:pPr>
              <a:spcAft>
                <a:spcPts val="400"/>
              </a:spcAft>
              <a:defRPr sz="1400">
                <a:solidFill>
                  <a:srgbClr val="0F172A"/>
                </a:solidFill>
                <a:latin typeface="Segoe UI"/>
              </a:defRPr>
            </a:pPr>
            <a:r>
              <a:t>✔  Non-contact ranging (2cm - 400cm)</a:t>
            </a:r>
          </a:p>
          <a:p>
            <a:pPr>
              <a:spcAft>
                <a:spcPts val="400"/>
              </a:spcAft>
              <a:defRPr sz="1400">
                <a:solidFill>
                  <a:srgbClr val="0F172A"/>
                </a:solidFill>
                <a:latin typeface="Segoe UI"/>
              </a:defRPr>
            </a:pPr>
            <a:r>
              <a:t>✔  High resolution (within ±3mm accuracy)</a:t>
            </a:r>
          </a:p>
          <a:p>
            <a:pPr>
              <a:spcAft>
                <a:spcPts val="400"/>
              </a:spcAft>
              <a:defRPr sz="1400">
                <a:solidFill>
                  <a:srgbClr val="0F172A"/>
                </a:solidFill>
                <a:latin typeface="Segoe UI"/>
              </a:defRPr>
            </a:pPr>
            <a:r>
              <a:t>✔  Humidity-safe design prevents rust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2" y="1645920"/>
            <a:ext cx="3328416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57032" y="1828800"/>
            <a:ext cx="305409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EA5E9"/>
                </a:solidFill>
                <a:latin typeface="Segoe UI Semibold"/>
              </a:defRPr>
            </a:pPr>
            <a:r>
              <a:t>ACTUATORS &amp; ALERT</a:t>
            </a:r>
          </a:p>
          <a:p>
            <a:pPr>
              <a:spcAft>
                <a:spcPts val="1200"/>
              </a:spcAft>
              <a:defRPr sz="1800" b="1">
                <a:solidFill>
                  <a:srgbClr val="0F172A"/>
                </a:solidFill>
                <a:latin typeface="Segoe UI Semibold"/>
              </a:defRPr>
            </a:pPr>
            <a:r>
              <a:t>Relay, Buzzer &amp; Pump</a:t>
            </a:r>
          </a:p>
          <a:p>
            <a:pPr>
              <a:spcAft>
                <a:spcPts val="16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Handles high-power switching and sounds physical boundary alarms during empty or overflow thresholds.</a:t>
            </a:r>
          </a:p>
          <a:p>
            <a:pPr>
              <a:spcAft>
                <a:spcPts val="400"/>
              </a:spcAft>
              <a:defRPr sz="1400">
                <a:solidFill>
                  <a:srgbClr val="0F172A"/>
                </a:solidFill>
                <a:latin typeface="Segoe UI"/>
              </a:defRPr>
            </a:pPr>
            <a:r>
              <a:t>✔  5V Relay for pump circuit control</a:t>
            </a:r>
          </a:p>
          <a:p>
            <a:pPr>
              <a:spcAft>
                <a:spcPts val="400"/>
              </a:spcAft>
              <a:defRPr sz="1400">
                <a:solidFill>
                  <a:srgbClr val="0F172A"/>
                </a:solidFill>
                <a:latin typeface="Segoe UI"/>
              </a:defRPr>
            </a:pPr>
            <a:r>
              <a:t>✔  Active buzzer sounds local alarms</a:t>
            </a:r>
          </a:p>
          <a:p>
            <a:pPr>
              <a:spcAft>
                <a:spcPts val="400"/>
              </a:spcAft>
              <a:defRPr sz="1400">
                <a:solidFill>
                  <a:srgbClr val="0F172A"/>
                </a:solidFill>
                <a:latin typeface="Segoe UI"/>
              </a:defRPr>
            </a:pPr>
            <a:r>
              <a:t>✔  5V submersible pump simulation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>
                <a:solidFill>
                  <a:srgbClr val="0EA5E9"/>
                </a:solidFill>
                <a:latin typeface="Segoe UI Semibold"/>
              </a:defRPr>
            </a:pPr>
            <a:r>
              <a:t>PART II: METHODOLOGY &amp;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 Semibold"/>
              </a:defRPr>
            </a:pPr>
            <a:r>
              <a:t>Operational Flow &amp; Circuit Integration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5912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 b="1">
                <a:solidFill>
                  <a:srgbClr val="2563EB"/>
                </a:solidFill>
                <a:latin typeface="Segoe UI Semibold"/>
              </a:defRPr>
            </a:pPr>
            <a:r>
              <a:t>SYSTEM FLOW</a:t>
            </a:r>
          </a:p>
          <a:p>
            <a:pPr>
              <a:spcAft>
                <a:spcPts val="100"/>
              </a:spcAft>
              <a:defRPr sz="1500" b="1">
                <a:solidFill>
                  <a:srgbClr val="0F172A"/>
                </a:solidFill>
                <a:latin typeface="Segoe UI Semibold"/>
              </a:defRPr>
            </a:pPr>
            <a:r>
              <a:t>01  |  PING RANGE</a:t>
            </a:r>
          </a:p>
          <a:p>
            <a:pPr>
              <a:spcAft>
                <a:spcPts val="10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Sensor sends 10µs sound wave pulse to calculate time delay.</a:t>
            </a:r>
          </a:p>
          <a:p>
            <a:pPr>
              <a:spcAft>
                <a:spcPts val="100"/>
              </a:spcAft>
              <a:defRPr sz="1500" b="1">
                <a:solidFill>
                  <a:srgbClr val="0F172A"/>
                </a:solidFill>
                <a:latin typeface="Segoe UI Semibold"/>
              </a:defRPr>
            </a:pPr>
            <a:r>
              <a:t>02  |  CALCULATE LEVEL</a:t>
            </a:r>
          </a:p>
          <a:p>
            <a:pPr>
              <a:spcAft>
                <a:spcPts val="10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ESP8266 converts travel delay to exact level percentage.</a:t>
            </a:r>
          </a:p>
          <a:p>
            <a:pPr>
              <a:spcAft>
                <a:spcPts val="100"/>
              </a:spcAft>
              <a:defRPr sz="1500" b="1">
                <a:solidFill>
                  <a:srgbClr val="0F172A"/>
                </a:solidFill>
                <a:latin typeface="Segoe UI Semibold"/>
              </a:defRPr>
            </a:pPr>
            <a:r>
              <a:t>03  |  AUTO CONTROL</a:t>
            </a:r>
          </a:p>
          <a:p>
            <a:pPr>
              <a:spcAft>
                <a:spcPts val="10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Relay turns pump ON at &lt;20% and OFF at &gt;90% thresholds.</a:t>
            </a:r>
          </a:p>
          <a:p>
            <a:pPr>
              <a:spcAft>
                <a:spcPts val="100"/>
              </a:spcAft>
              <a:defRPr sz="1500" b="1">
                <a:solidFill>
                  <a:srgbClr val="0F172A"/>
                </a:solidFill>
                <a:latin typeface="Segoe UI Semibold"/>
              </a:defRPr>
            </a:pPr>
            <a:r>
              <a:t>04  |  STREAM DATA</a:t>
            </a:r>
          </a:p>
          <a:p>
            <a:pPr>
              <a:spcAft>
                <a:spcPts val="10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NodeMCU posts HTTP JSON packets to backend API every 3s.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5029200"/>
            <a:ext cx="5212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latin typeface="Inter"/>
              </a:defRPr>
            </a:pPr>
            <a:r>
              <a:t>Figure: Operational flow logic &amp; automated pump relay trigger loop (3s interval).</a:t>
            </a:r>
          </a:p>
        </p:txBody>
      </p:sp>
      <p:pic>
        <p:nvPicPr>
          <p:cNvPr id="9" name="Picture 8" descr="flowchart_slid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>
                <a:solidFill>
                  <a:srgbClr val="0EA5E9"/>
                </a:solidFill>
                <a:latin typeface="Segoe UI Semibold"/>
              </a:defRPr>
            </a:pPr>
            <a:r>
              <a:t>PART II: METHODOLOGY &amp;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 Semibold"/>
              </a:defRPr>
            </a:pPr>
            <a:r>
              <a:t>Software Architecture &amp; Live Portal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5912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500" b="1">
                <a:solidFill>
                  <a:srgbClr val="2563EB"/>
                </a:solidFill>
                <a:latin typeface="Segoe UI Semibold"/>
              </a:defRPr>
            </a:pPr>
            <a:r>
              <a:t>THE SOFTWARE STACK</a:t>
            </a:r>
          </a:p>
          <a:p>
            <a:pPr>
              <a:spcAft>
                <a:spcPts val="1200"/>
              </a:spcAft>
              <a:defRPr sz="1500" b="1">
                <a:solidFill>
                  <a:srgbClr val="0F172A"/>
                </a:solidFill>
                <a:latin typeface="Segoe UI Semibold"/>
              </a:defRPr>
            </a:pPr>
            <a:r>
              <a:t>✔  Node.js &amp; Express: </a:t>
            </a:r>
            <a:r>
              <a:rPr b="0" sz="1400">
                <a:solidFill>
                  <a:srgbClr val="475569"/>
                </a:solidFill>
              </a:rPr>
              <a:t>Host local REST API routes to receive sensor data and store history in memory.</a:t>
            </a:r>
          </a:p>
          <a:p>
            <a:pPr>
              <a:spcAft>
                <a:spcPts val="1200"/>
              </a:spcAft>
              <a:defRPr sz="1500" b="1">
                <a:solidFill>
                  <a:srgbClr val="0F172A"/>
                </a:solidFill>
                <a:latin typeface="Segoe UI Semibold"/>
              </a:defRPr>
            </a:pPr>
            <a:r>
              <a:t>✔  Socket.io (WebSockets): </a:t>
            </a:r>
            <a:r>
              <a:rPr b="0" sz="1400">
                <a:solidFill>
                  <a:srgbClr val="475569"/>
                </a:solidFill>
              </a:rPr>
              <a:t>Establish bidirectional channels for real-time dashboard updates without page reloads.</a:t>
            </a:r>
          </a:p>
          <a:p>
            <a:pPr>
              <a:spcAft>
                <a:spcPts val="1200"/>
              </a:spcAft>
              <a:defRPr sz="1500" b="1">
                <a:solidFill>
                  <a:srgbClr val="0F172A"/>
                </a:solidFill>
                <a:latin typeface="Segoe UI Semibold"/>
              </a:defRPr>
            </a:pPr>
            <a:r>
              <a:t>✔  Web Push API: </a:t>
            </a:r>
            <a:r>
              <a:rPr b="0" sz="1400">
                <a:solidFill>
                  <a:srgbClr val="475569"/>
                </a:solidFill>
              </a:rPr>
              <a:t>Triggers native mobile notifications when system registers empty/overflow limits.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500" b="1">
                <a:solidFill>
                  <a:srgbClr val="2563EB"/>
                </a:solidFill>
                <a:latin typeface="Segoe UI Semibold"/>
              </a:defRPr>
            </a:pPr>
            <a:r>
              <a:t>PORTAL FEATURES &amp; UTILITIES</a:t>
            </a:r>
          </a:p>
          <a:p>
            <a:pPr>
              <a:spcAft>
                <a:spcPts val="1200"/>
              </a:spcAft>
              <a:defRPr sz="1500" b="1">
                <a:solidFill>
                  <a:srgbClr val="0F172A"/>
                </a:solidFill>
                <a:latin typeface="Segoe UI Semibold"/>
              </a:defRPr>
            </a:pPr>
            <a:r>
              <a:t>✔  Dynamic Level Tracker: </a:t>
            </a:r>
            <a:r>
              <a:rPr b="0" sz="1400">
                <a:solidFill>
                  <a:srgbClr val="475569"/>
                </a:solidFill>
              </a:rPr>
              <a:t>Visual liquid progress bar changes color based on current depth percentage.</a:t>
            </a:r>
          </a:p>
          <a:p>
            <a:pPr>
              <a:spcAft>
                <a:spcPts val="1200"/>
              </a:spcAft>
              <a:defRPr sz="1500" b="1">
                <a:solidFill>
                  <a:srgbClr val="0F172A"/>
                </a:solidFill>
                <a:latin typeface="Segoe UI Semibold"/>
              </a:defRPr>
            </a:pPr>
            <a:r>
              <a:t>✔  Dual Operation Modes: </a:t>
            </a:r>
            <a:r>
              <a:rPr b="0" sz="1400">
                <a:solidFill>
                  <a:srgbClr val="475569"/>
                </a:solidFill>
              </a:rPr>
              <a:t>Switch between automated sensor loops and manual relay control toggles.</a:t>
            </a:r>
          </a:p>
          <a:p>
            <a:pPr>
              <a:spcAft>
                <a:spcPts val="1200"/>
              </a:spcAft>
              <a:defRPr sz="1500" b="1">
                <a:solidFill>
                  <a:srgbClr val="0F172A"/>
                </a:solidFill>
                <a:latin typeface="Segoe UI Semibold"/>
              </a:defRPr>
            </a:pPr>
            <a:r>
              <a:t>✔  Configurable Parameters: </a:t>
            </a:r>
            <a:r>
              <a:rPr b="0" sz="1400">
                <a:solidFill>
                  <a:srgbClr val="475569"/>
                </a:solidFill>
              </a:rPr>
              <a:t>Input forms allow users to update start/stop threshold parameters on the fly.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>
                <a:solidFill>
                  <a:srgbClr val="0EA5E9"/>
                </a:solidFill>
                <a:latin typeface="Segoe UI Semibold"/>
              </a:defRPr>
            </a:pPr>
            <a:r>
              <a:t>PART III: RESULTS &amp; 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 Semibold"/>
              </a:defRPr>
            </a:pPr>
            <a:r>
              <a:t>Real-World Performance &amp; Utility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5912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28416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305409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EA5E9"/>
                </a:solidFill>
                <a:latin typeface="Segoe UI Semibold"/>
              </a:defRPr>
            </a:pPr>
            <a:r>
              <a:t>🏠  Home Automation</a:t>
            </a:r>
          </a:p>
          <a:p>
            <a:pPr>
              <a:spcAft>
                <a:spcPts val="1200"/>
              </a:spcAft>
              <a:defRPr sz="1600" b="1">
                <a:solidFill>
                  <a:srgbClr val="0F172A"/>
                </a:solidFill>
                <a:latin typeface="Segoe UI Semibold"/>
              </a:defRPr>
            </a:pPr>
            <a:r>
              <a:t>Domestic Settings</a:t>
            </a:r>
          </a:p>
          <a:p>
            <a:pPr>
              <a:spcAft>
                <a:spcPts val="20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Runs overhead and underground refills automatically, saving overhead tank waste, power, and physical inspection.</a:t>
            </a:r>
          </a:p>
          <a:p>
            <a:pPr>
              <a:spcAft>
                <a:spcPts val="200"/>
              </a:spcAft>
              <a:defRPr sz="1400" b="1">
                <a:solidFill>
                  <a:srgbClr val="2563EB"/>
                </a:solidFill>
                <a:latin typeface="Segoe UI Semibold"/>
              </a:defRPr>
            </a:pPr>
            <a:r>
              <a:t>CORE VALUE:</a:t>
            </a:r>
          </a:p>
          <a:p>
            <a:pPr>
              <a:defRPr sz="1400" b="1">
                <a:solidFill>
                  <a:srgbClr val="0F172A"/>
                </a:solidFill>
                <a:latin typeface="Segoe UI Semibold"/>
              </a:defRPr>
            </a:pPr>
            <a:r>
              <a:t>100% Manual Effort Eliminated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1645920"/>
            <a:ext cx="3328416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62856" y="1828800"/>
            <a:ext cx="305409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EA5E9"/>
                </a:solidFill>
                <a:latin typeface="Segoe UI Semibold"/>
              </a:defRPr>
            </a:pPr>
            <a:r>
              <a:t>🌱  Crop Irrigation</a:t>
            </a:r>
          </a:p>
          <a:p>
            <a:pPr>
              <a:spcAft>
                <a:spcPts val="1200"/>
              </a:spcAft>
              <a:defRPr sz="1600" b="1">
                <a:solidFill>
                  <a:srgbClr val="0F172A"/>
                </a:solidFill>
                <a:latin typeface="Segoe UI Semibold"/>
              </a:defRPr>
            </a:pPr>
            <a:r>
              <a:t>Smart Agriculture</a:t>
            </a:r>
          </a:p>
          <a:p>
            <a:pPr>
              <a:spcAft>
                <a:spcPts val="20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Maintains optimal reservoir levels for drip lines or drinking pools in the background without crop soil stress.</a:t>
            </a:r>
          </a:p>
          <a:p>
            <a:pPr>
              <a:spcAft>
                <a:spcPts val="200"/>
              </a:spcAft>
              <a:defRPr sz="1400" b="1">
                <a:solidFill>
                  <a:srgbClr val="2563EB"/>
                </a:solidFill>
                <a:latin typeface="Segoe UI Semibold"/>
              </a:defRPr>
            </a:pPr>
            <a:r>
              <a:t>CORE VALUE:</a:t>
            </a:r>
          </a:p>
          <a:p>
            <a:pPr>
              <a:defRPr sz="1400" b="1">
                <a:solidFill>
                  <a:srgbClr val="0F172A"/>
                </a:solidFill>
                <a:latin typeface="Segoe UI Semibold"/>
              </a:defRPr>
            </a:pPr>
            <a:r>
              <a:t>Automated Moisture Protection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2" y="1645920"/>
            <a:ext cx="3328416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57032" y="1828800"/>
            <a:ext cx="305409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EA5E9"/>
                </a:solidFill>
                <a:latin typeface="Segoe UI Semibold"/>
              </a:defRPr>
            </a:pPr>
            <a:r>
              <a:t>🏭  Facility Safety</a:t>
            </a:r>
          </a:p>
          <a:p>
            <a:pPr>
              <a:spcAft>
                <a:spcPts val="1200"/>
              </a:spcAft>
              <a:defRPr sz="1600" b="1">
                <a:solidFill>
                  <a:srgbClr val="0F172A"/>
                </a:solidFill>
                <a:latin typeface="Segoe UI Semibold"/>
              </a:defRPr>
            </a:pPr>
            <a:r>
              <a:t>Asset Protection</a:t>
            </a:r>
          </a:p>
          <a:p>
            <a:pPr>
              <a:spcAft>
                <a:spcPts val="20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Tracks liquid limits in clinics, blocks, and factories. Protects pump investments from dry-run coil burnout.</a:t>
            </a:r>
          </a:p>
          <a:p>
            <a:pPr>
              <a:spcAft>
                <a:spcPts val="200"/>
              </a:spcAft>
              <a:defRPr sz="1400" b="1">
                <a:solidFill>
                  <a:srgbClr val="2563EB"/>
                </a:solidFill>
                <a:latin typeface="Segoe UI Semibold"/>
              </a:defRPr>
            </a:pPr>
            <a:r>
              <a:t>CORE VALUE:</a:t>
            </a:r>
          </a:p>
          <a:p>
            <a:pPr>
              <a:defRPr sz="1400" b="1">
                <a:solidFill>
                  <a:srgbClr val="0F172A"/>
                </a:solidFill>
                <a:latin typeface="Segoe UI Semibold"/>
              </a:defRPr>
            </a:pPr>
            <a:r>
              <a:t>Prevents Dry-Run Pump Damage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>
                <a:solidFill>
                  <a:srgbClr val="0EA5E9"/>
                </a:solidFill>
                <a:latin typeface="Segoe UI Semibold"/>
              </a:defRPr>
            </a:pPr>
            <a:r>
              <a:t>PART III: RESULTS &amp; 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 Semibold"/>
              </a:defRPr>
            </a:pPr>
            <a:r>
              <a:t>Conclusion &amp; Project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5912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563EB"/>
                </a:solidFill>
                <a:latin typeface="Segoe UI Semibold"/>
              </a:defRPr>
            </a:pPr>
            <a:r>
              <a:t>✔  Reliable Ultrasonic Depth Tracking</a:t>
            </a:r>
          </a:p>
          <a:p>
            <a:pPr>
              <a:spcAft>
                <a:spcPts val="2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•  Stable distance calculations within a precise ±1 cm window.</a:t>
            </a:r>
          </a:p>
          <a:p>
            <a:pPr>
              <a:spcAft>
                <a:spcPts val="2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•  Humidity-proof, non-contact design avoids system rust.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45920"/>
            <a:ext cx="512064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78308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563EB"/>
                </a:solidFill>
                <a:latin typeface="Segoe UI Semibold"/>
              </a:defRPr>
            </a:pPr>
            <a:r>
              <a:t>✔  Automated Resource Optimization</a:t>
            </a:r>
          </a:p>
          <a:p>
            <a:pPr>
              <a:spcAft>
                <a:spcPts val="2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•  Microcontroller logic completely eliminates manual oversight.</a:t>
            </a:r>
          </a:p>
          <a:p>
            <a:pPr>
              <a:spcAft>
                <a:spcPts val="2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•  Ends overflow water waste and limits pump runs.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23360"/>
            <a:ext cx="512064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563EB"/>
                </a:solidFill>
                <a:latin typeface="Segoe UI Semibold"/>
              </a:defRPr>
            </a:pPr>
            <a:r>
              <a:t>✔  Extremely Low Prototype Budget</a:t>
            </a:r>
          </a:p>
          <a:p>
            <a:pPr>
              <a:spcAft>
                <a:spcPts val="2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•  Full prototype built under ₹1,100 ($14 USD) hardware cost.</a:t>
            </a:r>
          </a:p>
          <a:p>
            <a:pPr>
              <a:spcAft>
                <a:spcPts val="2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•  Uses budget-friendly NodeMCU board and HC-SR04.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4023360"/>
            <a:ext cx="512064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416052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563EB"/>
                </a:solidFill>
                <a:latin typeface="Segoe UI Semibold"/>
              </a:defRPr>
            </a:pPr>
            <a:r>
              <a:t>✔  Highly Scalable Network Design</a:t>
            </a:r>
          </a:p>
          <a:p>
            <a:pPr>
              <a:spcAft>
                <a:spcPts val="2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•  Clean local Node.js APIs map sensor data packets easily.</a:t>
            </a:r>
          </a:p>
          <a:p>
            <a:pPr>
              <a:spcAft>
                <a:spcPts val="2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•  Ready to link multiple tank nodes across commercial complexes.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5912" cy="5394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lleg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7314" y="1097280"/>
            <a:ext cx="1188720" cy="1188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468880"/>
            <a:ext cx="103601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400" b="1">
                <a:solidFill>
                  <a:srgbClr val="0EA5E9"/>
                </a:solidFill>
                <a:latin typeface="Segoe UI Semibold"/>
              </a:defRPr>
            </a:pPr>
            <a:r>
              <a:t>VIVA Q&amp;A SESSION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3601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600" b="1">
                <a:solidFill>
                  <a:srgbClr val="0F172A"/>
                </a:solidFill>
                <a:latin typeface="Segoe UI Semibold"/>
              </a:defRPr>
            </a:pPr>
            <a:r>
              <a:t>Questions &amp; Discussion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40480"/>
            <a:ext cx="103601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400">
                <a:solidFill>
                  <a:srgbClr val="475569"/>
                </a:solidFill>
                <a:latin typeface="Segoe UI Semibold"/>
              </a:defRPr>
            </a:pPr>
            <a:r>
              <a:t>Presented by: Tanvi, Yaksh, and Nayan (St. Xavier's College)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4389120"/>
            <a:ext cx="5788152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754880"/>
            <a:ext cx="1036015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400" b="1">
                <a:solidFill>
                  <a:srgbClr val="0F172A"/>
                </a:solidFill>
                <a:latin typeface="Segoe UI"/>
              </a:defRPr>
            </a:pPr>
            <a:r>
              <a:t>Discussion Topics: Non-Contact Ultrasonic Precision  •  Local Loop Hardware Fail-safes</a:t>
            </a:r>
            <a:br/>
            <a:r>
              <a:t>API Database Telemetry  •  Relay Automation Thresholds  •  Dry-Run Safety Control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5912" cy="5394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lleg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7314" y="1005840"/>
            <a:ext cx="1188720" cy="1188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377440"/>
            <a:ext cx="103601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800" b="1">
                <a:solidFill>
                  <a:srgbClr val="0F172A"/>
                </a:solidFill>
                <a:latin typeface="Segoe UI Semibold"/>
              </a:defRPr>
            </a:pPr>
            <a: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3601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000">
                <a:solidFill>
                  <a:srgbClr val="2563EB"/>
                </a:solidFill>
                <a:latin typeface="Segoe UI"/>
              </a:defRPr>
            </a:pPr>
            <a:r>
              <a:t>Open for Questions &amp; Discussion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3749039"/>
            <a:ext cx="7616952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31920"/>
            <a:ext cx="103601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475569"/>
                </a:solidFill>
                <a:latin typeface="Segoe UI Semibold"/>
              </a:defRPr>
            </a:pPr>
            <a:r>
              <a:t>PROJECT REPRESENTATIVES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4297680"/>
            <a:ext cx="21945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00"/>
              </a:spcAft>
              <a:defRPr sz="1400" b="1">
                <a:solidFill>
                  <a:srgbClr val="0F172A"/>
                </a:solidFill>
                <a:latin typeface="Segoe UI Semibold"/>
              </a:defRPr>
            </a:pPr>
            <a:r>
              <a:t>Tanvi Patel</a:t>
            </a:r>
          </a:p>
          <a:p>
            <a:pPr algn="ctr">
              <a:spcAft>
                <a:spcPts val="2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Roll: 25AI056</a:t>
            </a:r>
          </a:p>
          <a:p>
            <a:pPr algn="ctr">
              <a:defRPr sz="1400" b="1">
                <a:solidFill>
                  <a:srgbClr val="2563EB"/>
                </a:solidFill>
                <a:latin typeface="Segoe UI"/>
              </a:defRPr>
            </a:pPr>
            <a:r>
              <a:t>Part I: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92624" y="4297680"/>
            <a:ext cx="21945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00"/>
              </a:spcAft>
              <a:defRPr sz="1400" b="1">
                <a:solidFill>
                  <a:srgbClr val="0F172A"/>
                </a:solidFill>
                <a:latin typeface="Segoe UI Semibold"/>
              </a:defRPr>
            </a:pPr>
            <a:r>
              <a:t>Barot Yaksh</a:t>
            </a:r>
          </a:p>
          <a:p>
            <a:pPr algn="ctr">
              <a:spcAft>
                <a:spcPts val="2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Roll: 25AI002</a:t>
            </a:r>
          </a:p>
          <a:p>
            <a:pPr algn="ctr">
              <a:defRPr sz="1400" b="1">
                <a:solidFill>
                  <a:srgbClr val="2563EB"/>
                </a:solidFill>
                <a:latin typeface="Segoe UI"/>
              </a:defRPr>
            </a:pPr>
            <a:r>
              <a:t>Part II: 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9248" y="4297680"/>
            <a:ext cx="21945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00"/>
              </a:spcAft>
              <a:defRPr sz="1400" b="1">
                <a:solidFill>
                  <a:srgbClr val="0F172A"/>
                </a:solidFill>
                <a:latin typeface="Segoe UI Semibold"/>
              </a:defRPr>
            </a:pPr>
            <a:r>
              <a:t>Nayan Barot</a:t>
            </a:r>
          </a:p>
          <a:p>
            <a:pPr algn="ctr">
              <a:spcAft>
                <a:spcPts val="2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Roll: 25AI027</a:t>
            </a:r>
          </a:p>
          <a:p>
            <a:pPr algn="ctr">
              <a:defRPr sz="1400" b="1">
                <a:solidFill>
                  <a:srgbClr val="2563EB"/>
                </a:solidFill>
                <a:latin typeface="Segoe UI"/>
              </a:defRPr>
            </a:pPr>
            <a:r>
              <a:t>Part III: Outcomes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