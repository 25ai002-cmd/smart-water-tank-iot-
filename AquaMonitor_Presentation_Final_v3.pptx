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5760720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" y="1097280"/>
            <a:ext cx="36576" cy="4663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097280"/>
            <a:ext cx="50292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4600" b="1">
                <a:solidFill>
                  <a:srgbClr val="0F172A"/>
                </a:solidFill>
                <a:latin typeface="Segoe UI Semibold"/>
              </a:defRPr>
            </a:pPr>
            <a:r>
              <a:t>AQUAMONITOR</a:t>
            </a:r>
          </a:p>
          <a:p>
            <a:pPr>
              <a:spcAft>
                <a:spcPts val="1400"/>
              </a:spcAft>
              <a:defRPr sz="1800">
                <a:solidFill>
                  <a:srgbClr val="2563EB"/>
                </a:solidFill>
                <a:latin typeface="Segoe UI"/>
              </a:defRPr>
            </a:pPr>
            <a:r>
              <a:t>IoT-Based Smart Water Tank Automation System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Automated pump control, non-contact level sensing, and real-time dashboard telemetry.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291840"/>
            <a:ext cx="50292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ST. XAVIER'S COLLEGE (AUTONOMOUS), AHMEDABAD</a:t>
            </a:r>
          </a:p>
          <a:p>
            <a:pPr>
              <a:defRPr sz="1400">
                <a:solidFill>
                  <a:srgbClr val="475569"/>
                </a:solidFill>
                <a:latin typeface="Segoe UI"/>
              </a:defRPr>
            </a:pPr>
            <a:r>
              <a:t>Department of Computer Science  •  Semester 3 IoT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4389120"/>
            <a:ext cx="50292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57200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Tanvi Patel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25AI056</a:t>
            </a:r>
          </a:p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I: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457200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Barot Yaksh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25AI002</a:t>
            </a:r>
          </a:p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II: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57200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Nayan Barot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25AI027</a:t>
            </a:r>
          </a:p>
          <a:p>
            <a:pPr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III: Outcomes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280160"/>
            <a:ext cx="4572000" cy="3291840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/>
        </p:txBody>
      </p:sp>
      <p:pic>
        <p:nvPicPr>
          <p:cNvPr id="13" name="Picture 12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3657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I: INTRO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The Core Water Management Challenge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3291840" cy="4663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0EA5E9"/>
                </a:solidFill>
                <a:latin typeface="Segoe UI Semibold"/>
              </a:defRPr>
            </a:pPr>
            <a:r>
              <a:t>THE PROBLEM</a:t>
            </a:r>
          </a:p>
          <a:p>
            <a:pPr>
              <a:spcAft>
                <a:spcPts val="2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Manual monitoring is highly inefficient, leading to resource waste and pump failures.</a:t>
            </a:r>
          </a:p>
          <a:p>
            <a:pPr>
              <a:spcAft>
                <a:spcPts val="400"/>
              </a:spcAft>
              <a:defRPr sz="1400">
                <a:solidFill>
                  <a:srgbClr val="0EA5E9"/>
                </a:solidFill>
                <a:latin typeface="Segoe UI Semibold"/>
              </a:defRPr>
            </a:pPr>
            <a:r>
              <a:t>Key Consequence:</a:t>
            </a:r>
          </a:p>
          <a:p>
            <a:pPr>
              <a:defRPr sz="1400">
                <a:solidFill>
                  <a:srgbClr val="FFFFFF"/>
                </a:solidFill>
                <a:latin typeface="Segoe UI"/>
              </a:defRPr>
            </a:pPr>
            <a:r>
              <a:t>Inductive load spikes and motor burned coil stators.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01  |  CRITICAL OVERFLOW WATER WASTAGE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Manual tracking leads to regular tank overflows.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Results in hundreds of liters of clean water lost daily.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01752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10896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02  |  PUMP DRY-RUN MOTOR DAMAGE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Pumps run without liquid when source reservoir is empty.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Causes motor overheating and stator coil burnout.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57200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66344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03  |  HIGH ELECTRICITY UTILITY BILLS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Over-pumping consumes heavy electrical current.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Inflates monthly household and commercial utility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I: INTRO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The AquaMonitor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01  |  AUTOMATED CONTROL LOOP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Microcontroller handles starting/stopping parameters automatically.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Starts pump at &lt;20% and stops it at &gt;90% water level.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02  |  PRECISION ULTRASONIC RANGING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Emits ultrasonic sound waves to compute exact water depth.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Maintains high-precision measurements within ±1 cm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70408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6675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03  |  REAL-TIME WEB TELEMETRY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Pushes metrics instantly to web dashboard using Socket.io.</a:t>
            </a:r>
          </a:p>
          <a:p>
            <a:pPr>
              <a:spcAft>
                <a:spcPts val="1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Sends mobile browser push notifications during warning states.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463040"/>
            <a:ext cx="3291840" cy="4663440"/>
          </a:xfrm>
          <a:prstGeom prst="rect">
            <a:avLst/>
          </a:prstGeom>
          <a:solidFill>
            <a:srgbClr val="F0FD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2743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THE GOAL</a:t>
            </a:r>
          </a:p>
          <a:p>
            <a:pPr>
              <a:spcAft>
                <a:spcPts val="28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Shifting from human tracking to hardware automation creates a zero-waste water grid.</a:t>
            </a:r>
          </a:p>
          <a:p>
            <a:pPr>
              <a:spcAft>
                <a:spcPts val="400"/>
              </a:spcAft>
              <a:defRPr sz="1400">
                <a:solidFill>
                  <a:srgbClr val="2563EB"/>
                </a:solidFill>
                <a:latin typeface="Segoe UI Semibold"/>
              </a:defRPr>
            </a:pPr>
            <a:r>
              <a:t>Primary Benefits:</a:t>
            </a:r>
          </a:p>
          <a:p>
            <a:pPr>
              <a:defRPr sz="1400">
                <a:solidFill>
                  <a:srgbClr val="0F172A"/>
                </a:solidFill>
                <a:latin typeface="Segoe UI"/>
              </a:defRPr>
            </a:pPr>
            <a:r>
              <a:t>Prevents overflows, protects motors, and cuts energy bills.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I: INTRO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Hardware Stack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CORE MICROPROCESSOR</a:t>
            </a:r>
          </a:p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Segoe UI Semibold"/>
              </a:defRPr>
            </a:pPr>
            <a:r>
              <a:t>NodeMCU ESP8266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Processes sensor signals, runs the control logic, and transmits wireless telemetry packet updates.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Low-power 32-bit CPU core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Onboard 802.11 b/g/n Wi-Fi module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GPIO pins connect sensors &amp; relay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ULTRASONIC SENSOR</a:t>
            </a:r>
          </a:p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Segoe UI Semibold"/>
              </a:defRPr>
            </a:pPr>
            <a:r>
              <a:t>HC-SR04 Module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Measures echo return time-of-flight from container top to track exact water depth without liquid contact.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Non-contact ranging (2cm - 400cm)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High resolution (within ±3mm accuracy)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Humidity-safe design prevents 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ACTUATORS &amp; ALERT</a:t>
            </a:r>
          </a:p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  <a:latin typeface="Segoe UI Semibold"/>
              </a:defRPr>
            </a:pPr>
            <a:r>
              <a:t>Relay, Buzzer &amp; Pump</a:t>
            </a:r>
          </a:p>
          <a:p>
            <a:pPr>
              <a:spcAft>
                <a:spcPts val="16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Handles high-power switching and sounds physical boundary alarms during empty or overflow thresholds.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5V Relay for pump circuit control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Active buzzer sounds local alarms</a:t>
            </a:r>
          </a:p>
          <a:p>
            <a:pPr>
              <a:spcAft>
                <a:spcPts val="400"/>
              </a:spcAft>
              <a:defRPr sz="1400">
                <a:solidFill>
                  <a:srgbClr val="0F172A"/>
                </a:solidFill>
                <a:latin typeface="Segoe UI"/>
              </a:defRPr>
            </a:pPr>
            <a:r>
              <a:t>✔  5V submersible pump simulation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II: METHODOLOGY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Operational Flow &amp; Circuit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2563EB"/>
                </a:solidFill>
                <a:latin typeface="Segoe UI Semibold"/>
              </a:defRPr>
            </a:pPr>
            <a:r>
              <a:t>SYSTEM FLOW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01  |  PING RANGE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Sensor sends 10µs sound wave pulse to calculate time delay.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02  |  CALCULATE LEVEL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ESP8266 converts travel delay to exact level percentage.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03  |  AUTO CONTROL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Relay turns pump ON at &lt;20% and OFF at &gt;90% thresholds.</a:t>
            </a:r>
          </a:p>
          <a:p>
            <a:pPr>
              <a:spcAft>
                <a:spcPts val="1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04  |  STREAM DATA</a:t>
            </a:r>
          </a:p>
          <a:p>
            <a:pPr>
              <a:spcAft>
                <a:spcPts val="1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NodeMCU posts HTTP JSON packets to backend API every 3s.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i="1">
                <a:solidFill>
                  <a:srgbClr val="475569"/>
                </a:solidFill>
                <a:latin typeface="Segoe UI"/>
              </a:defRPr>
            </a:pPr>
            <a:br/>
            <a:r>
              <a:t>[ INSERT CIRCUIT DIAGRAM / SCHEMATIC HERE ]</a:t>
            </a:r>
            <a:br/>
            <a:br/>
            <a:r>
              <a:t>Click to add your circuit wiring schematic or system block diagram.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0292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475569"/>
                </a:solidFill>
                <a:latin typeface="Segoe UI"/>
              </a:defRPr>
            </a:pPr>
            <a:r>
              <a:t>Figure: Microcontroller-sensor integration loop showing active ultrasonic echo ranging and automatic wireless telemetry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II: METHODOLOGY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Software Architecture &amp; Live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 b="1">
                <a:solidFill>
                  <a:srgbClr val="2563EB"/>
                </a:solidFill>
                <a:latin typeface="Segoe UI Semibold"/>
              </a:defRPr>
            </a:pPr>
            <a:r>
              <a:t>THE SOFTWARE STACK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Node.js &amp; Express: </a:t>
            </a:r>
            <a:r>
              <a:rPr b="0" sz="1400">
                <a:solidFill>
                  <a:srgbClr val="475569"/>
                </a:solidFill>
              </a:rPr>
              <a:t>Host local REST API routes to receive sensor data and store history in memory.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Socket.io (WebSockets): </a:t>
            </a:r>
            <a:r>
              <a:rPr b="0" sz="1400">
                <a:solidFill>
                  <a:srgbClr val="475569"/>
                </a:solidFill>
              </a:rPr>
              <a:t>Establish bidirectional channels for real-time dashboard updates without page reloads.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Web Push API: </a:t>
            </a:r>
            <a:r>
              <a:rPr b="0" sz="1400">
                <a:solidFill>
                  <a:srgbClr val="475569"/>
                </a:solidFill>
              </a:rPr>
              <a:t>Triggers native mobile notifications when system registers empty/overflow limits.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 b="1">
                <a:solidFill>
                  <a:srgbClr val="2563EB"/>
                </a:solidFill>
                <a:latin typeface="Segoe UI Semibold"/>
              </a:defRPr>
            </a:pPr>
            <a:r>
              <a:t>PORTAL FEATURES &amp; UTILITIES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Dynamic Level Tracker: </a:t>
            </a:r>
            <a:r>
              <a:rPr b="0" sz="1400">
                <a:solidFill>
                  <a:srgbClr val="475569"/>
                </a:solidFill>
              </a:rPr>
              <a:t>Visual liquid progress bar changes color based on current depth percentage.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Dual Operation Modes: </a:t>
            </a:r>
            <a:r>
              <a:rPr b="0" sz="1400">
                <a:solidFill>
                  <a:srgbClr val="475569"/>
                </a:solidFill>
              </a:rPr>
              <a:t>Switch between automated sensor loops and manual relay control toggles.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Segoe UI Semibold"/>
              </a:defRPr>
            </a:pPr>
            <a:r>
              <a:t>✔  Configurable Parameters: </a:t>
            </a:r>
            <a:r>
              <a:rPr b="0" sz="1400">
                <a:solidFill>
                  <a:srgbClr val="475569"/>
                </a:solidFill>
              </a:rPr>
              <a:t>Input forms allow users to update start/stop threshold parameters on the fly.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III: RESULTS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Real-World Performance &amp; Utility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  <a:latin typeface="Segoe UI Semibold"/>
              </a:defRPr>
            </a:pPr>
            <a:r>
              <a:t>🏠  Home Automation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Domestic Settings</a:t>
            </a:r>
          </a:p>
          <a:p>
            <a:pPr>
              <a:spcAft>
                <a:spcPts val="2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Runs overhead and underground refills automatically, saving overhead tank waste, power, and physical inspection.</a:t>
            </a:r>
          </a:p>
          <a:p>
            <a:pPr>
              <a:spcAft>
                <a:spcPts val="200"/>
              </a:spcAft>
              <a:defRPr sz="1400" b="1">
                <a:solidFill>
                  <a:srgbClr val="2563EB"/>
                </a:solidFill>
                <a:latin typeface="Segoe UI Semibold"/>
              </a:defRPr>
            </a:pPr>
            <a:r>
              <a:t>CORE VALUE:</a:t>
            </a:r>
          </a:p>
          <a:p>
            <a:pPr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100% Manual Effort Eliminated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  <a:latin typeface="Segoe UI Semibold"/>
              </a:defRPr>
            </a:pPr>
            <a:r>
              <a:t>🌱  Crop Irrigation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Smart Agriculture</a:t>
            </a:r>
          </a:p>
          <a:p>
            <a:pPr>
              <a:spcAft>
                <a:spcPts val="2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Maintains optimal reservoir levels for drip lines or drinking pools in the background without crop soil stress.</a:t>
            </a:r>
          </a:p>
          <a:p>
            <a:pPr>
              <a:spcAft>
                <a:spcPts val="200"/>
              </a:spcAft>
              <a:defRPr sz="1400" b="1">
                <a:solidFill>
                  <a:srgbClr val="2563EB"/>
                </a:solidFill>
                <a:latin typeface="Segoe UI Semibold"/>
              </a:defRPr>
            </a:pPr>
            <a:r>
              <a:t>CORE VALUE:</a:t>
            </a:r>
          </a:p>
          <a:p>
            <a:pPr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Automated Moisture Protection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645920"/>
            <a:ext cx="3328416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2" y="18288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A5E9"/>
                </a:solidFill>
                <a:latin typeface="Segoe UI Semibold"/>
              </a:defRPr>
            </a:pPr>
            <a:r>
              <a:t>🏭  Facility Safety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Asset Protection</a:t>
            </a:r>
          </a:p>
          <a:p>
            <a:pPr>
              <a:spcAft>
                <a:spcPts val="20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Tracks liquid limits in clinics, blocks, and factories. Protects pump investments from dry-run coil burnout.</a:t>
            </a:r>
          </a:p>
          <a:p>
            <a:pPr>
              <a:spcAft>
                <a:spcPts val="200"/>
              </a:spcAft>
              <a:defRPr sz="1400" b="1">
                <a:solidFill>
                  <a:srgbClr val="2563EB"/>
                </a:solidFill>
                <a:latin typeface="Segoe UI Semibold"/>
              </a:defRPr>
            </a:pPr>
            <a:r>
              <a:t>CORE VALUE:</a:t>
            </a:r>
          </a:p>
          <a:p>
            <a:pPr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Prevents Dry-Run Pump Damage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PART III: RESULTS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 Semibold"/>
              </a:defRPr>
            </a:pPr>
            <a:r>
              <a:t>Conclusion &amp; Project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Reliable Ultrasonic Depth Tracking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Stable distance calculations within a precise ±1 cm window.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Humidity-proof, non-contact design avoids system 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Automated Resource Optimization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Microcontroller logic completely eliminates manual oversight.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Ends overflow water waste and limits pump 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Extremely Low Prototype Budget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Full prototype built under ₹1,100 ($14 USD) hardware cost.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Uses budget-friendly NodeMCU board and HC-SR04.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02336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563EB"/>
                </a:solidFill>
                <a:latin typeface="Segoe UI Semibold"/>
              </a:defRPr>
            </a:pPr>
            <a:r>
              <a:t>✔  Highly Scalable Network Design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Clean local Node.js APIs map sensor data packets easily.</a:t>
            </a:r>
          </a:p>
          <a:p>
            <a:pPr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•  Ready to link multiple tank nodes across commercial complexes.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314" y="109728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1">
                <a:solidFill>
                  <a:srgbClr val="0EA5E9"/>
                </a:solidFill>
                <a:latin typeface="Segoe UI Semibold"/>
              </a:defRPr>
            </a:pPr>
            <a:r>
              <a:t>VIVA Q&amp;A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Segoe UI Semibold"/>
              </a:defRPr>
            </a:pPr>
            <a: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>
                <a:solidFill>
                  <a:srgbClr val="475569"/>
                </a:solidFill>
                <a:latin typeface="Segoe UI Semibold"/>
              </a:defRPr>
            </a:pPr>
            <a:r>
              <a:t>Presented by: Tanvi, Yaksh, and Nayan (St. Xavier's College)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389120"/>
            <a:ext cx="578815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3601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Discussion Topics: Non-Contact Ultrasonic Precision  •  Local Loop Hardware Fail-safes</a:t>
            </a:r>
            <a:br/>
            <a:r>
              <a:t>API Database Telemetry  •  Relay Automation Thresholds  •  Dry-Run Safety Control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314" y="100584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37744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800" b="1">
                <a:solidFill>
                  <a:srgbClr val="0F172A"/>
                </a:solidFill>
                <a:latin typeface="Segoe UI Semibold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000">
                <a:solidFill>
                  <a:srgbClr val="2563EB"/>
                </a:solidFill>
                <a:latin typeface="Segoe UI"/>
              </a:defRPr>
            </a:pPr>
            <a:r>
              <a:t>Open for 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749039"/>
            <a:ext cx="7616952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601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475569"/>
                </a:solidFill>
                <a:latin typeface="Segoe UI Semibold"/>
              </a:defRPr>
            </a:pPr>
            <a:r>
              <a:t>PROJECT REPRESENTATIVES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29768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Tanvi Patel</a:t>
            </a:r>
          </a:p>
          <a:p>
            <a:pPr algn="ctr"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25AI056</a:t>
            </a:r>
          </a:p>
          <a:p>
            <a:pPr algn="ctr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I: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429768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Barot Yaksh</a:t>
            </a:r>
          </a:p>
          <a:p>
            <a:pPr algn="ctr"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25AI002</a:t>
            </a:r>
          </a:p>
          <a:p>
            <a:pPr algn="ctr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II: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429768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200"/>
              </a:spcAft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Nayan Barot</a:t>
            </a:r>
          </a:p>
          <a:p>
            <a:pPr algn="ctr">
              <a:spcAft>
                <a:spcPts val="200"/>
              </a:spcAft>
              <a:defRPr sz="1400">
                <a:solidFill>
                  <a:srgbClr val="475569"/>
                </a:solidFill>
                <a:latin typeface="Segoe UI"/>
              </a:defRPr>
            </a:pPr>
            <a:r>
              <a:t>Roll: 25AI027</a:t>
            </a:r>
          </a:p>
          <a:p>
            <a:pPr algn="ctr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Part III: Outcomes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